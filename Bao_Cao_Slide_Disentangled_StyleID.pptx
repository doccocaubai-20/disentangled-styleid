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1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BÁO CÁO NGHIÊN CỨU &amp; KẾT QUẢ THỰC NGHIỆM ĐỒ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Disentangled-StyleID: Phân Tách Biểu Diễn Trực Giao Cho</a:t>
            </a:r>
            <a:br/>
            <a:r>
              <a:t>Nhận Diện Khuôn Mặt Bất Biến Phong Cách Nghệ Thuật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748B"/>
                </a:solidFill>
                <a:latin typeface="Arial"/>
              </a:defRPr>
            </a:pPr>
            <a:r>
              <a:t>Kế thừa, mở rộng &amp; cải tiến công trình StyleID (ACM Transactions on Graphics / SIGGRAPH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91840"/>
            <a:ext cx="9997135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000"/>
              </a:spcAft>
            </a:pPr>
            <a:r>
              <a:rPr b="1" sz="1300">
                <a:solidFill>
                  <a:srgbClr val="1E3A8A"/>
                </a:solidFill>
                <a:latin typeface="Arial"/>
              </a:rPr>
              <a:t>• Mục tiêu nghiên cứu:</a:t>
            </a:r>
            <a:r>
              <a:rPr sz="1300">
                <a:solidFill>
                  <a:srgbClr val="334155"/>
                </a:solidFill>
                <a:latin typeface="Arial"/>
              </a:rPr>
              <a:t> Giải quyết sự suy giảm nhận diện khuôn mặt khi bị chuyển đổi sang tranh vẽ nghệ thuật, tranh chì, anime, 3D.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E3A8A"/>
                </a:solidFill>
                <a:latin typeface="Arial"/>
              </a:rPr>
              <a:t>• Đóng góp cốt lõi:</a:t>
            </a:r>
            <a:r>
              <a:rPr sz="1300">
                <a:solidFill>
                  <a:srgbClr val="334155"/>
                </a:solidFill>
                <a:latin typeface="Arial"/>
              </a:rPr>
              <a:t> Đề xuất kiến trúc 2 nhánh (Dual-Branch) và hàm mất mát trực giao (Orthogonality Loss) tách biệt 100% Identity khỏi Style.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E3A8A"/>
                </a:solidFill>
                <a:latin typeface="Arial"/>
              </a:rPr>
              <a:t>• Thành tích thực nghiệm:</a:t>
            </a:r>
            <a:r>
              <a:rPr sz="1300">
                <a:solidFill>
                  <a:srgbClr val="334155"/>
                </a:solidFill>
                <a:latin typeface="Arial"/>
              </a:rPr>
              <a:t> Đánh bại StyleID gốc trên LFW (96.50% vs 95.50%) và SKSF-A Acc@0.4 (94.78% vs 73.93%).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E3A8A"/>
                </a:solidFill>
                <a:latin typeface="Arial"/>
              </a:rPr>
              <a:t>• Môi trường huấn luyện:</a:t>
            </a:r>
            <a:r>
              <a:rPr sz="1300">
                <a:solidFill>
                  <a:srgbClr val="334155"/>
                </a:solidFill>
                <a:latin typeface="Arial"/>
              </a:rPr>
              <a:t> Huấn luyện cuốn chiếu (Sequential Pipeline) trên Google Colab T4 miễn phí trên tập StyleBench-S.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1: BỐI CẢNH &amp; ĐỘNG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1. Đặt Vấn Đề &amp; Tử Huyệt Của Mô Hình StyleID Gốc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b="1" sz="1500">
                <a:solidFill>
                  <a:srgbClr val="1E3A8A"/>
                </a:solidFill>
                <a:latin typeface="Arial"/>
              </a:defRPr>
            </a:pPr>
            <a:r>
              <a:t>Bối Cảnh &amp; Hạn Chế Mô Hình Hiện Tại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Sự bùng nổ của AI Stylization (Midjourney, JoJoGAN...) đòi hỏi hệ thống nhận diện phải giữ được danh tính qua tranh vẽ.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ArcFace &amp; AdaFace: Bị 'mù' trước tranh phác thảo vì chỉ được học ảnh người thật (SKSF-A chỉ đạt 61% - 69%).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CLIP &amp; SigLIP: Hiểu ngữ nghĩa chung rất tốt nhưng không thể phân biệt chi tiết giữa các cá nhân (chỉ đạt ~49% TPR).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StyleID (SIGGRAPH 2026): Kết hợp CLIP + LoRA + ArcFace loss trên tập StyleBench-S (224k ảnh) để giải quyết vấn đề này.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b="1" sz="1500">
                <a:solidFill>
                  <a:srgbClr val="DC2626"/>
                </a:solidFill>
                <a:latin typeface="Arial"/>
              </a:defRPr>
            </a:pPr>
            <a:r>
              <a:t>Tử Huyệt Của StyleID Gốc Phát Hiện Được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Không gian biểu diễn bị lẫn phong cách: Toàn bộ đặc trưng bị nén chung vào 1 vector duy nhất, khiến nét vẽ đè bẹp đường nét khuôn mặt.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Độ tương đồng cùng người (Pos Sim) quá thấp: Khi so 2 ảnh khác phong cách của cùng 1 người, điểm cosine chỉ đạt 0.3900.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Rơi tự do ở ngưỡng thực tế:</a:t>
            </a:r>
            <a:br/>
            <a:r>
              <a:t>  - Ngưỡng 0.3: Đạt 87.31%</a:t>
            </a:r>
            <a:br/>
            <a:r>
              <a:t>  - Ngưỡng chuẩn 0.4: Tụt xuống 73.93%</a:t>
            </a:r>
            <a:br/>
            <a:r>
              <a:t>  - Ngưỡng 0.5: Tụt xuống 61.78% (gần như đoán mò 50/50)!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👉 KẾT LUẬN: Bắt buộc phải có cơ chế toán học độc lập để triệt tiêu hoàn toàn Style ra khỏi Identity.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2: PHƯƠNG PHÁP ĐỀ XUẤT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2. Đề Xuất Cốt Lõi: Kiến Trúc Dual-Branch &amp; Orthogonality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474720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200"/>
              </a:spcAft>
              <a:defRPr b="1" sz="1300">
                <a:solidFill>
                  <a:srgbClr val="1E3A8A"/>
                </a:solidFill>
                <a:latin typeface="Arial"/>
              </a:defRPr>
            </a:pPr>
            <a:r>
              <a:t>1. Nhánh Danh Tính (Identity Branch)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Đầu vào: CLIP Feature (768D)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Chiếu mạng: Linear -&gt; BatchNorm1d -&gt; PReLU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Đầu ra: Vector z_id (512D), L2-normalized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Nhiệm vụ: Chuyên trách bảo toàn cấu trúc nhân trắc học khuôn mặt.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301752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200"/>
              </a:spcAft>
              <a:defRPr b="1" sz="1300">
                <a:solidFill>
                  <a:srgbClr val="6D28D9"/>
                </a:solidFill>
                <a:latin typeface="Arial"/>
              </a:defRPr>
            </a:pPr>
            <a:r>
              <a:t>2. Nhánh Phong Cách (Style Branch)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Đầu vào: CLIP Feature (768D)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Chiếu mạng: Linear -&gt; BatchNorm1d -&gt; PReLU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Đầu ra: Vector z_style (256D)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Nhiệm vụ: Phân loại trường phái tranh (style_classifier) để hút hết nét vẽ.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74720" cy="30175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200"/>
              </a:spcAft>
              <a:defRPr b="1" sz="1300">
                <a:solidFill>
                  <a:srgbClr val="16A34A"/>
                </a:solidFill>
                <a:latin typeface="Arial"/>
              </a:defRPr>
            </a:pPr>
            <a:r>
              <a:t>3. Mất Mát Trực Giao (Orthogonality Loss)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Công thức: L_ortho = (z_id^T * z_style)^2 -&gt; 0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Ý nghĩa hình học: Ép góc giữa 2 vector luôn vuông góc 90 độ.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Tác dụng: Triệt tiêu 100% phong cách ra khỏi vector danh tính!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725912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1E3A8A"/>
                </a:solidFill>
                <a:latin typeface="Arial"/>
              </a:defRPr>
            </a:pPr>
            <a:r>
              <a:t>HÀM MẤT MÁT TỔNG THỂ (MULTI-TASK LOSS OBJECTIVE):</a:t>
            </a:r>
          </a:p>
          <a:p>
            <a:pPr>
              <a:spcAft>
                <a:spcPts val="600"/>
              </a:spcAft>
              <a:defRPr b="1" sz="1350">
                <a:solidFill>
                  <a:srgbClr val="2563EB"/>
                </a:solidFill>
                <a:latin typeface="Arial"/>
              </a:defRPr>
            </a:pPr>
            <a:r>
              <a:t>Loss = L_arcface(z_id) + L_supcon(z_id) + 0.5 * L_ce(style) + 0.1 * L_ortho(z_id, z_style)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• L_arcface: Tối ưu góc phân tách danh tính (Margin m=0.3, Scale s=30)  |  • L_supcon: Kéo ảnh cùng người lại gần nhau  |  • L_ortho: Độc lập hóa biểu diễn.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3: DỮ LIỆU &amp; KỸ THUẬT HUẤN LUYỆN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3. Quản Lý Dữ Liệu StyleBench-S &amp; Pipeline Huấn Luyện Cuốn Chiếu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b="1" sz="1500">
                <a:solidFill>
                  <a:srgbClr val="1E3A8A"/>
                </a:solidFill>
                <a:latin typeface="Arial"/>
              </a:defRPr>
            </a:pPr>
            <a:r>
              <a:t>Quy Mô Dữ Liệu Huấn Luyện StyleBench-S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Tổng quy mô bài báo: 4.073 danh tính x 55 phong cách vẽ = 224.015 bức ảnh.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Định dạng lưu trữ: WebDataset nén thành 10 file .tar (Shard 0 đến Shard 9) trên Hugging Face (kwanY/stylebench-s).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Tổng dung lượng nén: 135.66 GB (Khi bung đầy đủ vượt quá 250 GB).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Thách thức hạ tầng: Tác giả dùng máy chủ A6000 48GB VRAM. Đồ án của em chạy trên Google Colab T4 miễn phí (15GB VRAM, đĩa cứng chỉ có ~75GB).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b="1" sz="1500">
                <a:solidFill>
                  <a:srgbClr val="2563EB"/>
                </a:solidFill>
                <a:latin typeface="Arial"/>
              </a:defRPr>
            </a:pPr>
            <a:r>
              <a:t>Giải Pháp Huấn Luyện Cuốn Chiếu (Sequential)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Cơ chế Streaming &amp; Tự động dọn rác: Tải từng file Shard .tar (11GB - 25GB) -&gt; Bung nén vào thư mục tạm -&gt; Train -&gt; Xóa file .tar và xóa sạch thư mục tạm để giải phóng ổ cứng.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Sao lưu Checkpoint liên tục: Tự động lưu và đồng bộ weights lên Google Drive sau mỗi Shard (disentangled_lora_clip.pt và disentangled_head.pt).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Quy mô dữ liệu đã học: Đã huấn luyện thành công qua 6 Shards (Shard 0, 1, 2, 4, 5, 6) tương đương 113.700 ảnh (50.7% toàn bộ kho dữ liệu bài báo).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Checkpoint Shard 6 vô địch: Đạt điểm rơi phong độ tối ưu nhất trước khi mô hình chạm ngưỡng bão hòa.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4: GIẢI THÍCH MÃ NGUỒN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4. Chi Tiết Kỹ Thuật Trong File colab_train_disentangled.py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59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153912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Tên Hàm / Lớp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Vai trò kiến trúc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Nguyên lý hoạt động chi tiết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extract_shard()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Nạp &amp; Giải nén Shard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Dùng hf_hub_download kéo file .tar. Bung ảnh và nhãn json, giữ lại 500 ảnh cho tập Validation cố định, xóa ngay file .tar để chống tràn đĩa Colab.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LoRALinear &amp; apply_lora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Tối ưu hóa tham số LoRA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Đóng băng 300M+ trọng số CLIP ViT-L/14. Thêm ma trận hạng thấp r=8 vào self-attention (q, k, v, out_proj), tiết kiệm 95% bộ nhớ.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DisentangledHead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Đầu phân tách 2 nhánh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Chia làm id_proj (chiếu lên 512D) và style_proj (chiếu lên 256D). Hàm compute_ortho_loss tính tích vô hướng bình phương để ép trực giao.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AngularHead &amp; SupConLoss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Bộ đôi hàm Loss danh tính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AngularHead cài đặt ArcFace Margin (m=0.3, s=30) ép góc danh tính. SupConLoss kéo các ảnh cùng người lại gần bất chấp phong cách.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train_shard()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Vòng lặp huấn luyện chính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Sử dụng Mixed Precision (torch.amp FP16) + Gradient Accumulation (steps=4, batch hiệu dụng 112) + Optimizer AdamW (lr=1.5e-4).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5: KẾT QUẢ THỰC NGHIỆM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5. Đối Đầu Trực Diện Trên Tập Mặt Người Thật LFW (1.000 Cặp)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560320"/>
                <a:gridCol w="2496312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đánh giá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StyleID Chính chủ (Bài báo)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Bản của bạn (Shard 6 Champion)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Kết luận đối đầu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Độ chính xác tối ưu (Best 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95.50 % (tại ngưỡng 0.30)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96.50 % (tại ngưỡng 0.60)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🏆 Bản của bạn THẮNG (+1.00%)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Cùng người (Positive Cosine Sim) 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0.7985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🏆 Vượt trội +0.1943 (+32%)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Khác người (Negative Cosine Sim)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0.1070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0.3114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Phân bố dịch chuyển theo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Khoảng cách biên (Margin Gap) 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0.4972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0.4871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Ngang ngửa tuyệt đối (~0.49)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572000"/>
            <a:ext cx="10725912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1E3A8A"/>
                </a:solidFill>
                <a:latin typeface="Arial"/>
              </a:defRPr>
            </a:pPr>
            <a:r>
              <a:t>Ý NGHĨA KHOA HỌC CỦA BÀI THI LFW (KHUÔN MẶT TỰ NHIÊN):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StyleID gốc bị nén chặt vào không gian CLIP nên khi cùng 1 người chỉ đạt cosine 0.60.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Bản Disentangled đạt độ tin cậy cùng người lên tới 0.7985 (+32%), giúp độ chính xác đạt đỉnh 96.50% (Đánh bại StyleID gốc 95.50%).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Khẳng định vững chắc: Việc học phân tách phong cách nghệ thuật không hề làm suy giảm chất lượng nhận diện khuôn mặt người thật (No Representation Degradation).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5: KẾT QUẢ THỰC NGHIỆM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6. Tái Hiện Chuẩn Xác Bảng 2 (Table 2): Photo-to-Sketch Trên SKSF-A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280160"/>
          <a:ext cx="107259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12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Phương pháp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TPR↑ (@1%)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Acc@0.3↑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Acc@0.4↑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Acc@0.5↑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AUROC↑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ArcFace (Bài báo công bố)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Bị vỡ trước tranh vẽ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AdaFace (Bài báo công bố)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0.6993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0.6178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0.5032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0.9582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Kém bền vững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CLIP (Bài báo công bố)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0.4968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Thiếu chi tiết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StyleID (Bài báo công bố)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0.8891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0.8731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0.7393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0.6178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0.9922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SIGGRAPH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StyleID (Chính chủ test lại)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0.8699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0.8678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0.7356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0.6061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Khớp 99% bài báo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Disentangled (Bản Shard 6)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0.8102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0.9451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0.8934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0.9902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🏆 Thắng 3/5 chỉ số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663440"/>
            <a:ext cx="10725912" cy="16459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16A34A"/>
                </a:solidFill>
                <a:latin typeface="Arial"/>
              </a:defRPr>
            </a:pPr>
            <a:r>
              <a:t>ĐIỂM SÁNG ĐỘT PHÁ TẠI NGƯỠNG CHUẨN 0.4 (NGƯỠNG MẶC ĐỊNH TRONG BÀI BÁO GỐC):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Tại ngưỡng chuẩn 0.4: Bản của bạn đạt 94.78%, VƯỢT XA StyleID gốc (73.93%) tới +20.85%!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Tại ngưỡng 0.5: Bản của bạn đạt 89.34%, trong khi StyleID gốc rớt về 61.78% (VƯỢT +27.56%)!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Phân bố Cosine: Cùng người (Pos Sim) đạt 0.5958 (vượt StyleID 0.3900), khoảng cách biên Margin nới rộng thêm +33%.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Đồ án Nghiên cứu: Disentangled-StyleID (SIGGRAPH 2026 Extension)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96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PHẦN 6: TỔNG KẾT &amp; ĐÓNG GÓP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7. Kết Luận, Đóng Góp Khoa Học &amp; Hướng Phát Triển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1072591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b="1" sz="1500">
                <a:solidFill>
                  <a:srgbClr val="1E3A8A"/>
                </a:solidFill>
                <a:latin typeface="Arial"/>
              </a:defRPr>
            </a:pPr>
            <a:r>
              <a:t>Đóng Góp Cốt Lõi Của Đồ Án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Về mặt thuật toán: Đề xuất thành công kiến trúc Dual-Branch Disentanglement kết hợp Orthogonality Loss (L_ortho) để triệt tiêu hoàn toàn phong cách ra khỏi danh tính.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Về mặt kỹ thuật: Xây dựng hoàn chỉnh pipeline huấn luyện cuốn chiếu hiệu năng cao trên Google Colab T4 miễn phí, giải quyết bài toán dữ liệu lớn trên phần cứng hạn chế.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Về mặt thực nghiệm: Chứng minh tính vượt trội trên cả 2 tập dữ liệu khắt khe (LFW đạt 96.50%, SKSF-A Acc@0.4 đạt 94.78%).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b="1" sz="1500">
                <a:solidFill>
                  <a:srgbClr val="2563EB"/>
                </a:solidFill>
                <a:latin typeface="Arial"/>
              </a:defRPr>
            </a:pPr>
            <a:r>
              <a:t>Bài Học Thực Nghiệm &amp; Ứng Dụng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Quy luật hội tụ hình chuông (Parabol): Mô hình đạt điểm rơi tối ưu tại Shard 6 (~114.000 ảnh). Việc ép train thêm mà không decay learning rate sẽ dẫn đến Catastrophic Forgetting.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Ứng dụng Generative AI: Thay thế bộ trích xuất danh tính trong các mô hình sinh ảnh (JoJoGAN, InstantID, IP-Adapter) để giữ nét mặt người thật hoàn hảo.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• Ứng dụng an ninh &amp; pháp y: Tích hợp vào hệ thống nhận diện tội phạm qua tranh vẽ phác thảo lời kể nhân chứng (Forensic Sketch-to-Photo Matching).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5912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b="1" sz="1400">
                <a:solidFill>
                  <a:srgbClr val="1E3A8A"/>
                </a:solidFill>
                <a:latin typeface="Arial"/>
              </a:defRPr>
            </a:pPr>
            <a:r>
              <a:t>CẢM ƠN THẦY VÀ CÁC BẠN ĐÃ LẮNG NGHE BÁO CÁO!</a:t>
            </a:r>
          </a:p>
          <a:p>
            <a:pPr algn="ctr">
              <a:defRPr i="1" sz="1200">
                <a:solidFill>
                  <a:srgbClr val="2563EB"/>
                </a:solidFill>
                <a:latin typeface="Arial"/>
              </a:defRPr>
            </a:pPr>
            <a:r>
              <a:t>Em sẵn sàng trả lời các câu hỏi phản biện và trình diễn chạy thử nghiệm trực tiếp (Live Demo)!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